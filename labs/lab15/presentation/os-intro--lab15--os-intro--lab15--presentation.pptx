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g" ContentType="image/jpe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2" Type="http://schemas.openxmlformats.org/officeDocument/2006/relationships/viewProps" Target="viewProps.xml" /><Relationship Id="rId31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4" Type="http://schemas.openxmlformats.org/officeDocument/2006/relationships/tableStyles" Target="tableStyles.xml" /><Relationship Id="rId33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mailto:kulyabov-ds@rudn.ru" TargetMode="External" /><Relationship Id="rId3" Type="http://schemas.openxmlformats.org/officeDocument/2006/relationships/hyperlink" Target="https://yamadharma.github.io/ru/" TargetMode="External" /><Relationship Id="rId4" Type="http://schemas.openxmlformats.org/officeDocument/2006/relationships/image" Target="../media/image1.jpg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pandoc.org/" TargetMode="External" /><Relationship Id="rId3" Type="http://schemas.openxmlformats.org/officeDocument/2006/relationships/hyperlink" Target="https://github.com/jgm/pandoc" TargetMode="Externa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ctan.org/pkg/beamer" TargetMode="Externa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revealjs.com/" TargetMode="External" /><Relationship Id="rId3" Type="http://schemas.openxmlformats.org/officeDocument/2006/relationships/hyperlink" Target="https://revealjs.com/themes/" TargetMode="Externa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Структура научной презентации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Простейший вариант</a:t>
            </a:r>
            <a:br/>
            <a:br/>
            <a:r>
              <a:rPr/>
              <a:t>Дмитрий Сергеевич Кулябов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2026-03-03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Информация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Докладчик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Кулябов Дмитрий Сергеевич</a:t>
            </a:r>
          </a:p>
          <a:p>
            <a:pPr lvl="0"/>
            <a:r>
              <a:rPr/>
              <a:t>д.ф.-м.н., профессор</a:t>
            </a:r>
          </a:p>
          <a:p>
            <a:pPr lvl="0"/>
            <a:r>
              <a:rPr/>
              <a:t>профессор кафедры теории вероятностей и кибербезопасности</a:t>
            </a:r>
          </a:p>
          <a:p>
            <a:pPr lvl="0"/>
            <a:r>
              <a:rPr/>
              <a:t>Российский университет дружбы народов им. П. Лумумбы</a:t>
            </a:r>
          </a:p>
          <a:p>
            <a:pPr lvl="0"/>
            <a:r>
              <a:rPr>
                <a:hlinkClick r:id="rId2"/>
              </a:rPr>
              <a:t>kulyabov-ds@rudn.ru</a:t>
            </a:r>
          </a:p>
          <a:p>
            <a:pPr lvl="0"/>
            <a:r>
              <a:rPr>
                <a:hlinkClick r:id="rId3"/>
              </a:rPr>
              <a:t>https://yamadharma.github.io/ru/</a:t>
            </a:r>
          </a:p>
        </p:txBody>
      </p:sp>
      <p:pic>
        <p:nvPicPr>
          <p:cNvPr descr="./image/kulyabov.jpg" id="0" name="Picture 1"/>
          <p:cNvPicPr>
            <a:picLocks noGrp="1" noChangeAspect="1"/>
          </p:cNvPicPr>
          <p:nvPr/>
        </p:nvPicPr>
        <p:blipFill>
          <a:blip r:embed="rId4"/>
          <a:stretch>
            <a:fillRect/>
          </a:stretch>
        </p:blipFill>
        <p:spPr bwMode="auto">
          <a:xfrm>
            <a:off x="5397500" y="1193800"/>
            <a:ext cx="25400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Вводная часть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Актуальность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Важно донести результаты своих исследований до окружающих</a:t>
            </a:r>
          </a:p>
          <a:p>
            <a:pPr lvl="0"/>
            <a:r>
              <a:rPr/>
              <a:t>Научная презентация — рабочий инструмент исследователя</a:t>
            </a:r>
          </a:p>
          <a:p>
            <a:pPr lvl="0"/>
            <a:r>
              <a:rPr/>
              <a:t>Необходимо создавать презентацию быстро</a:t>
            </a:r>
          </a:p>
          <a:p>
            <a:pPr lvl="0"/>
            <a:r>
              <a:rPr/>
              <a:t>Желательна минимизация усилий для создания презентации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Объект и предмет исследования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Презентация как текст</a:t>
            </a:r>
          </a:p>
          <a:p>
            <a:pPr lvl="0"/>
            <a:r>
              <a:rPr/>
              <a:t>Программное обеспечение для создания презентаций</a:t>
            </a:r>
          </a:p>
          <a:p>
            <a:pPr lvl="0"/>
            <a:r>
              <a:rPr/>
              <a:t>Входные и выходные форматы презентаций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Цели и задачи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Создать шаблон презентации в Markdown</a:t>
            </a:r>
          </a:p>
          <a:p>
            <a:pPr lvl="0"/>
            <a:r>
              <a:rPr/>
              <a:t>Описать алгоритм создания выходных форматов презентаций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Материалы и методы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Процессор </a:t>
            </a:r>
            <a:r>
              <a:rPr>
                <a:latin typeface="Courier"/>
              </a:rPr>
              <a:t>pandoc</a:t>
            </a:r>
            <a:r>
              <a:rPr/>
              <a:t> для входного формата Markdown</a:t>
            </a:r>
          </a:p>
          <a:p>
            <a:pPr lvl="0"/>
            <a:r>
              <a:rPr/>
              <a:t>Результирующие форматы</a:t>
            </a:r>
          </a:p>
          <a:p>
            <a:pPr lvl="1"/>
            <a:r>
              <a:rPr>
                <a:latin typeface="Courier"/>
              </a:rPr>
              <a:t>pdf</a:t>
            </a:r>
          </a:p>
          <a:p>
            <a:pPr lvl="1"/>
            <a:r>
              <a:rPr>
                <a:latin typeface="Courier"/>
              </a:rPr>
              <a:t>html</a:t>
            </a:r>
          </a:p>
          <a:p>
            <a:pPr lvl="0"/>
            <a:r>
              <a:rPr/>
              <a:t>Автоматизация процесса создания: </a:t>
            </a:r>
            <a:r>
              <a:rPr>
                <a:latin typeface="Courier"/>
              </a:rPr>
              <a:t>Makefile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Создание презентации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Процессор </a:t>
            </a:r>
            <a:r>
              <a:rPr>
                <a:latin typeface="Courier"/>
              </a:rPr>
              <a:t>pandoc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Pandoc: преобразователь текстовых файлов</a:t>
            </a:r>
          </a:p>
          <a:p>
            <a:pPr lvl="0"/>
            <a:r>
              <a:rPr/>
              <a:t>Сайт: </a:t>
            </a:r>
            <a:r>
              <a:rPr>
                <a:hlinkClick r:id="rId2"/>
              </a:rPr>
              <a:t>https://pandoc.org/</a:t>
            </a:r>
          </a:p>
          <a:p>
            <a:pPr lvl="0"/>
            <a:r>
              <a:rPr/>
              <a:t>Репозиторий: </a:t>
            </a:r>
            <a:r>
              <a:rPr>
                <a:hlinkClick r:id="rId3"/>
              </a:rPr>
              <a:t>https://github.com/jgm/pandoc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Формат </a:t>
            </a:r>
            <a:r>
              <a:rPr>
                <a:latin typeface="Courier"/>
              </a:rPr>
              <a:t>pdf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Использование LaTeX</a:t>
            </a:r>
          </a:p>
          <a:p>
            <a:pPr lvl="0"/>
            <a:r>
              <a:rPr/>
              <a:t>Пакет для презентации: </a:t>
            </a:r>
            <a:r>
              <a:rPr>
                <a:hlinkClick r:id="rId2"/>
              </a:rPr>
              <a:t>beamer</a:t>
            </a:r>
          </a:p>
          <a:p>
            <a:pPr lvl="0"/>
            <a:r>
              <a:rPr/>
              <a:t>Тема оформления: </a:t>
            </a:r>
            <a:r>
              <a:rPr>
                <a:latin typeface="Courier"/>
              </a:rPr>
              <a:t>metropolis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Код для формата </a:t>
            </a:r>
            <a:r>
              <a:rPr>
                <a:latin typeface="Courier"/>
              </a:rPr>
              <a:t>pdf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slide_level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br/>
            <a:r>
              <a:rPr>
                <a:solidFill>
                  <a:srgbClr val="06287E"/>
                </a:solidFill>
                <a:latin typeface="Courier"/>
              </a:rPr>
              <a:t>aspectratio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169</a:t>
            </a:r>
            <a:br/>
            <a:r>
              <a:rPr>
                <a:solidFill>
                  <a:srgbClr val="06287E"/>
                </a:solidFill>
                <a:latin typeface="Courier"/>
              </a:rPr>
              <a:t>section-titles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true</a:t>
            </a:r>
            <a:br/>
            <a:r>
              <a:rPr>
                <a:solidFill>
                  <a:srgbClr val="06287E"/>
                </a:solidFill>
                <a:latin typeface="Courier"/>
              </a:rPr>
              <a:t>theme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metropolis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Формат </a:t>
            </a:r>
            <a:r>
              <a:rPr>
                <a:latin typeface="Courier"/>
              </a:rPr>
              <a:t>html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Используется фреймворк </a:t>
            </a:r>
            <a:r>
              <a:rPr>
                <a:hlinkClick r:id="rId2"/>
              </a:rPr>
              <a:t>reveal.js</a:t>
            </a:r>
          </a:p>
          <a:p>
            <a:pPr lvl="0"/>
            <a:r>
              <a:rPr/>
              <a:t>Используется </a:t>
            </a:r>
            <a:r>
              <a:rPr>
                <a:hlinkClick r:id="rId3"/>
              </a:rPr>
              <a:t>тема</a:t>
            </a:r>
            <a:r>
              <a:rPr/>
              <a:t> </a:t>
            </a:r>
            <a:r>
              <a:rPr>
                <a:latin typeface="Courier"/>
              </a:rPr>
              <a:t>beige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Код для формата </a:t>
            </a:r>
            <a:r>
              <a:rPr>
                <a:latin typeface="Courier"/>
              </a:rPr>
              <a:t>html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Тема задаётся в файле </a:t>
            </a:r>
            <a:r>
              <a:rPr>
                <a:latin typeface="Courier"/>
              </a:rPr>
              <a:t>Makefile</a:t>
            </a:r>
          </a:p>
          <a:p>
            <a:pPr lvl="0" indent="0">
              <a:buNone/>
            </a:pPr>
            <a:r>
              <a:rPr>
                <a:latin typeface="Courier"/>
              </a:rPr>
              <a:t>REVEALJS_THEME = beige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Результаты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Получающиеся форматы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Полученный </a:t>
            </a:r>
            <a:r>
              <a:rPr>
                <a:latin typeface="Courier"/>
              </a:rPr>
              <a:t>pdf</a:t>
            </a:r>
            <a:r>
              <a:rPr/>
              <a:t>-файл можно демонстрировать в любой программе просмотра </a:t>
            </a:r>
            <a:r>
              <a:rPr>
                <a:latin typeface="Courier"/>
              </a:rPr>
              <a:t>pdf</a:t>
            </a:r>
          </a:p>
          <a:p>
            <a:pPr lvl="0"/>
            <a:r>
              <a:rPr/>
              <a:t>Полученный </a:t>
            </a:r>
            <a:r>
              <a:rPr>
                <a:latin typeface="Courier"/>
              </a:rPr>
              <a:t>html</a:t>
            </a:r>
            <a:r>
              <a:rPr/>
              <a:t>-файл содержит в себе все ресурсы: изображения, css, скрипты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Элементы презентации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Актуальность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Даёт понять, о чём пойдёт речь</a:t>
            </a:r>
          </a:p>
          <a:p>
            <a:pPr lvl="0"/>
            <a:r>
              <a:rPr/>
              <a:t>Следует широко и кратко описать проблему</a:t>
            </a:r>
          </a:p>
          <a:p>
            <a:pPr lvl="0"/>
            <a:r>
              <a:rPr/>
              <a:t>Мотивировать свое исследование</a:t>
            </a:r>
          </a:p>
          <a:p>
            <a:pPr lvl="0"/>
            <a:r>
              <a:rPr/>
              <a:t>Сформулировать цели и задачи</a:t>
            </a:r>
          </a:p>
          <a:p>
            <a:pPr lvl="0"/>
            <a:r>
              <a:rPr/>
              <a:t>Возможна формулировка ожидаемых результатов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Цели и задачи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Не формулируйте более 1–2 целей исследования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Материалы и методы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Представляйте данные качественно</a:t>
            </a:r>
          </a:p>
          <a:p>
            <a:pPr lvl="0"/>
            <a:r>
              <a:rPr/>
              <a:t>Количественно, только если крайне необходимо</a:t>
            </a:r>
          </a:p>
          <a:p>
            <a:pPr lvl="0"/>
            <a:r>
              <a:rPr/>
              <a:t>Излишние детали не нужны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Содержание исследования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Предлагаемое решение задач исследования с обоснованием</a:t>
            </a:r>
          </a:p>
          <a:p>
            <a:pPr lvl="0"/>
            <a:r>
              <a:rPr/>
              <a:t>Основные этапы работы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Результаты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Не нужны все результаты</a:t>
            </a:r>
          </a:p>
          <a:p>
            <a:pPr lvl="0"/>
            <a:r>
              <a:rPr/>
              <a:t>Необходимы логические связки между слайдами</a:t>
            </a:r>
          </a:p>
          <a:p>
            <a:pPr lvl="0"/>
            <a:r>
              <a:rPr/>
              <a:t>Необходимо показать понимание материала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Итоговый слайд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Запоминается последняя фраза. © Штирлиц</a:t>
            </a:r>
          </a:p>
          <a:p>
            <a:pPr lvl="0"/>
            <a:r>
              <a:rPr/>
              <a:t>Главное сообщение, которое вы хотите донести до слушателей</a:t>
            </a:r>
          </a:p>
          <a:p>
            <a:pPr lvl="0"/>
            <a:r>
              <a:rPr/>
              <a:t>Избегайте использовать последний слайд вида </a:t>
            </a:r>
            <a:r>
              <a:rPr i="1"/>
              <a:t>Спасибо за внимание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Рекомендую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Принцип 10/20/30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10 слайдов</a:t>
            </a:r>
          </a:p>
          <a:p>
            <a:pPr lvl="0"/>
            <a:r>
              <a:rPr/>
              <a:t>20 минут на доклад</a:t>
            </a:r>
          </a:p>
          <a:p>
            <a:pPr lvl="0"/>
            <a:r>
              <a:rPr/>
              <a:t>30 кегль шрифта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Связь слайдов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Один слайд — одна мысль</a:t>
            </a:r>
          </a:p>
          <a:p>
            <a:pPr lvl="0"/>
            <a:r>
              <a:rPr/>
              <a:t>Нельзя ссылаться на объекты, находящиеся на предыдущих слайдах (например, на формулы)</a:t>
            </a:r>
          </a:p>
          <a:p>
            <a:pPr lvl="0"/>
            <a:r>
              <a:rPr/>
              <a:t>Каждый слайд должен иметь заголовок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Количество сущностей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Человек может одновременно помнить </a:t>
                </a:r>
                <a14:m>
                  <m:oMath xmlns:m="http://schemas.openxmlformats.org/officeDocument/2006/math">
                    <m:r>
                      <m:t>7</m:t>
                    </m:r>
                    <m:r>
                      <m:rPr>
                        <m:sty m:val="p"/>
                      </m:rPr>
                      <m:t>±</m:t>
                    </m:r>
                    <m:r>
                      <m:t>2</m:t>
                    </m:r>
                  </m:oMath>
                </a14:m>
                <a:r>
                  <a:rPr/>
                  <a:t> элемента</a:t>
                </a:r>
              </a:p>
              <a:p>
                <a:pPr lvl="0"/>
                <a:r>
                  <a:rPr/>
                  <a:t>При размещении информации на слайде старайтесь чтобы в сумме слайд содержал не более 5 элементов</a:t>
                </a:r>
              </a:p>
              <a:p>
                <a:pPr lvl="0"/>
                <a:r>
                  <a:rPr/>
                  <a:t>Можно группировать элементы так, чтобы визуально было не более 5 групп</a:t>
                </a:r>
              </a:p>
            </p:txBody>
          </p:sp>
        </mc:Choice>
      </mc:AlternateContent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Общие рекомендации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На слайд выносится та информация, которая без зрительной опоры воспринимается хуже</a:t>
            </a:r>
          </a:p>
          <a:p>
            <a:pPr lvl="0"/>
            <a:r>
              <a:rPr/>
              <a:t>Слайды должны дополнять или обобщать содержание выступления или его частей, а не дублировать его</a:t>
            </a:r>
          </a:p>
          <a:p>
            <a:pPr lvl="0"/>
            <a:r>
              <a:rPr/>
              <a:t>Информация на слайдах должна быть изложена кратко, чётко и хорошо структурирована</a:t>
            </a:r>
          </a:p>
          <a:p>
            <a:pPr lvl="0"/>
            <a:r>
              <a:rPr/>
              <a:t>Слайд не должен быть перегружен графическими изображениями и текстом</a:t>
            </a:r>
          </a:p>
          <a:p>
            <a:pPr lvl="0"/>
            <a:r>
              <a:rPr/>
              <a:t>Не злоупотребляйте анимацией и переходами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Представление данных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Лучше представить в виде схемы</a:t>
            </a:r>
          </a:p>
          <a:p>
            <a:pPr lvl="0"/>
            <a:r>
              <a:rPr/>
              <a:t>Менее оптимально представить в виде рисунка, графика, таблицы</a:t>
            </a:r>
          </a:p>
          <a:p>
            <a:pPr lvl="0"/>
            <a:r>
              <a:rPr/>
              <a:t>Текст используется, если все предыдущие способы отображения информации не подошли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Структура научной презентации</dc:title>
  <dc:creator>Дмитрий Сергеевич Кулябов</dc:creator>
  <cp:keywords/>
  <dcterms:created xsi:type="dcterms:W3CDTF">2026-03-02T21:55:26Z</dcterms:created>
  <dcterms:modified xsi:type="dcterms:W3CDTF">2026-03-02T21:55:26Z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ffiliations">
    <vt:lpwstr/>
  </property>
  <property fmtid="{D5CDD505-2E9C-101B-9397-08002B2CF9AE}" pid="3" name="authors">
    <vt:lpwstr/>
  </property>
  <property fmtid="{D5CDD505-2E9C-101B-9397-08002B2CF9AE}" pid="4" name="biblio-config">
    <vt:lpwstr>True</vt:lpwstr>
  </property>
  <property fmtid="{D5CDD505-2E9C-101B-9397-08002B2CF9AE}" pid="5" name="by-affiliation">
    <vt:lpwstr/>
  </property>
  <property fmtid="{D5CDD505-2E9C-101B-9397-08002B2CF9AE}" pid="6" name="by-author">
    <vt:lpwstr/>
  </property>
  <property fmtid="{D5CDD505-2E9C-101B-9397-08002B2CF9AE}" pid="7" name="crossref">
    <vt:lpwstr/>
  </property>
  <property fmtid="{D5CDD505-2E9C-101B-9397-08002B2CF9AE}" pid="8" name="date">
    <vt:lpwstr>2026-03-03</vt:lpwstr>
  </property>
  <property fmtid="{D5CDD505-2E9C-101B-9397-08002B2CF9AE}" pid="9" name="date-format">
    <vt:lpwstr>YYYY-MM-DD</vt:lpwstr>
  </property>
  <property fmtid="{D5CDD505-2E9C-101B-9397-08002B2CF9AE}" pid="10" name="header-includes">
    <vt:lpwstr/>
  </property>
  <property fmtid="{D5CDD505-2E9C-101B-9397-08002B2CF9AE}" pid="11" name="include-after">
    <vt:lpwstr/>
  </property>
  <property fmtid="{D5CDD505-2E9C-101B-9397-08002B2CF9AE}" pid="12" name="include-before">
    <vt:lpwstr/>
  </property>
  <property fmtid="{D5CDD505-2E9C-101B-9397-08002B2CF9AE}" pid="13" name="labels">
    <vt:lpwstr/>
  </property>
  <property fmtid="{D5CDD505-2E9C-101B-9397-08002B2CF9AE}" pid="14" name="license">
    <vt:lpwstr/>
  </property>
  <property fmtid="{D5CDD505-2E9C-101B-9397-08002B2CF9AE}" pid="15" name="subtitle">
    <vt:lpwstr>Простейший вариант</vt:lpwstr>
  </property>
  <property fmtid="{D5CDD505-2E9C-101B-9397-08002B2CF9AE}" pid="16" name="toc-title">
    <vt:lpwstr>Содержание</vt:lpwstr>
  </property>
</Properties>
</file>